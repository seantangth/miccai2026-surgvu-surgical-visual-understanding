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55" r:id="rId1"/>
  </p:sldMasterIdLst>
  <p:notesMasterIdLst>
    <p:notesMasterId r:id="rId6"/>
  </p:notesMasterIdLst>
  <p:handoutMasterIdLst>
    <p:handoutMasterId r:id="rId7"/>
  </p:handoutMasterIdLst>
  <p:sldIdLst>
    <p:sldId id="315" r:id="rId2"/>
    <p:sldId id="316" r:id="rId3"/>
    <p:sldId id="318" r:id="rId4"/>
    <p:sldId id="319" r:id="rId5"/>
  </p:sldIdLst>
  <p:sldSz cx="17340263" cy="9753600"/>
  <p:notesSz cx="6858000" cy="9144000"/>
  <p:defaultTextStyle>
    <a:defPPr>
      <a:defRPr lang="en-US"/>
    </a:defPPr>
    <a:lvl1pPr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1pPr>
    <a:lvl2pPr marL="4572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2pPr>
    <a:lvl3pPr marL="9144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3pPr>
    <a:lvl4pPr marL="13716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4pPr>
    <a:lvl5pPr marL="18288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5pPr>
    <a:lvl6pPr marL="22860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6pPr>
    <a:lvl7pPr marL="27432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7pPr>
    <a:lvl8pPr marL="32004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8pPr>
    <a:lvl9pPr marL="36576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9pPr>
  </p:defaultTextStyle>
  <p:extLst>
    <p:ext uri="{EFAFB233-063F-42B5-8137-9DF3F51BA10A}">
      <p15:sldGuideLst xmlns:p15="http://schemas.microsoft.com/office/powerpoint/2012/main">
        <p15:guide id="1" orient="horz" pos="305" userDrawn="1">
          <p15:clr>
            <a:srgbClr val="A4A3A4"/>
          </p15:clr>
        </p15:guide>
        <p15:guide id="2" orient="horz" pos="5640" userDrawn="1">
          <p15:clr>
            <a:srgbClr val="A4A3A4"/>
          </p15:clr>
        </p15:guide>
        <p15:guide id="3" orient="horz" pos="6004" userDrawn="1">
          <p15:clr>
            <a:srgbClr val="A4A3A4"/>
          </p15:clr>
        </p15:guide>
        <p15:guide id="4" orient="horz" pos="532" userDrawn="1">
          <p15:clr>
            <a:srgbClr val="A4A3A4"/>
          </p15:clr>
        </p15:guide>
        <p15:guide id="5" pos="9939" userDrawn="1">
          <p15:clr>
            <a:srgbClr val="A4A3A4"/>
          </p15:clr>
        </p15:guide>
        <p15:guide id="6" pos="260" userDrawn="1">
          <p15:clr>
            <a:srgbClr val="A4A3A4"/>
          </p15:clr>
        </p15:guide>
        <p15:guide id="7" pos="243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64B7"/>
    <a:srgbClr val="1C65B8"/>
    <a:srgbClr val="2D477D"/>
    <a:srgbClr val="B42727"/>
    <a:srgbClr val="6E1818"/>
    <a:srgbClr val="AB2525"/>
    <a:srgbClr val="AE1E2D"/>
    <a:srgbClr val="8A13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72" y="80"/>
      </p:cViewPr>
      <p:guideLst>
        <p:guide orient="horz" pos="305"/>
        <p:guide orient="horz" pos="5640"/>
        <p:guide orient="horz" pos="6004"/>
        <p:guide orient="horz" pos="532"/>
        <p:guide pos="9939"/>
        <p:guide pos="260"/>
        <p:guide pos="2439"/>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98" d="100"/>
          <a:sy n="98" d="100"/>
        </p:scale>
        <p:origin x="-260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07764188-C972-498A-9A8C-571E77753429}" type="datetimeFigureOut">
              <a:rPr lang="de-DE" altLang="de-DE"/>
              <a:pPr>
                <a:defRPr/>
              </a:pPr>
              <a:t>04.09.2024</a:t>
            </a:fld>
            <a:endParaRPr lang="de-DE" altLang="de-DE"/>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0209D7D9-48FC-4447-96E0-36293428F74C}" type="slidenum">
              <a:rPr lang="de-DE" altLang="de-DE"/>
              <a:pPr>
                <a:defRPr/>
              </a:pPr>
              <a:t>‹Nr.›</a:t>
            </a:fld>
            <a:endParaRPr lang="de-DE" altLang="de-DE"/>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3" name="Date Placeholder 2"/>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972C125C-C7A8-41D9-9832-F44F7B30D390}" type="datetimeFigureOut">
              <a:rPr lang="en-GB" altLang="de-DE"/>
              <a:pPr>
                <a:defRPr/>
              </a:pPr>
              <a:t>04/09/2024</a:t>
            </a:fld>
            <a:endParaRPr lang="en-GB" alt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GB" noProof="0" smtClean="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316D7CC5-BEE3-4F91-B51A-9D5661A41D67}" type="slidenum">
              <a:rPr lang="en-GB" altLang="de-DE"/>
              <a:pPr>
                <a:defRPr/>
              </a:pPr>
              <a:t>‹Nr.›</a:t>
            </a:fld>
            <a:endParaRPr lang="en-GB"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Hello. We are team APC underscore TDC, a one-person team from Schneider Electric Taiwan. We entered both categories. Category 1, weakly supervised tool detection, final mAP zero point four nine three. Category 2, surgical video question answering, BERTScore F1 zero point six one nine. Everything you will see is public: code, weights, and the report.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[0:20-1:20] The challenge gives us tool presence labels, not boxes. So the question is how to turn presence into localisation. Our answer is to use the presence label as a gate rather than as a target. We sample frames at one frame per second and crop them to the same geometry as the test set. A teacher ensemble of two RT-DETR models proposes boxes, and we fuse them with weighted box fusion. Then the gate: we keep only the frames where the number of boxes of each class is exactly equal to the number of that tool installed at that second, and where every box is above conf zero point three five. Twenty six percent of frames pass. We train a student on them, and that student becomes the next teacher, which raises the pass rate to forty one percent. The loop converges because the gate is external to the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[1:20-2:20] Five decisions mattered. First, scale beats recipe. Going from twenty to two hundred eighty videos was worth plus zero point zero five two. Every recipe change we tried was worth at most zero point zero zero six. Second, let the weak label do the filtering; an exact count match is model independent, so the iteration does not drift. Third, never size-filter pseudo-labels: we tried, and it removed exactly the near and far field samples that carry the scale diversity. Fourth, and this one cost us the most: never keep a frame whose visible tool has no box. We excluded three classes from the targets but kept their images, and sixty five thousand frames taught the detector that a visible prograsp is background. Fifth, our remaining headroom was box tightness, not recall. Training at eight hundred pixels and fusing two resolutions were both worth more at AP75 than at AP50.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[2:20-3:00] Briefly, what did not work, because we think this is the more useful half. Thirty nine inference-time variants had a ceiling of half a point. Ten temporal post-processing variants were all negative. And the one that nearly fooled us: we read the robot interface with OCR to relabel the rare classes. On a tool-presence proxy metric it looked like a large win, from zero point five seven eight to zero point eight one nine. On real mAP it was negative. Two rulers, opposite directions. One honest caveat: our ablations hold out the student but not the teacher, so please read the paired differences, not the absolute numbers.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853982" y="1724171"/>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4177471464"/>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smtClean="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965122808"/>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
        <p:nvSpPr>
          <p:cNvPr id="6" name="Inhaltsplatzhalter 1"/>
          <p:cNvSpPr>
            <a:spLocks noGrp="1"/>
          </p:cNvSpPr>
          <p:nvPr>
            <p:ph idx="1"/>
          </p:nvPr>
        </p:nvSpPr>
        <p:spPr>
          <a:xfrm>
            <a:off x="812680" y="1819547"/>
            <a:ext cx="11840995" cy="1130300"/>
          </a:xfrm>
        </p:spPr>
        <p:txBody>
          <a:bodyPr/>
          <a:lstStyle>
            <a:lvl1pPr>
              <a:defRPr/>
            </a:lvl1pPr>
          </a:lstStyle>
          <a:p>
            <a:endParaRPr lang="de-DE" dirty="0">
              <a:sym typeface="Gill Sans" charset="0"/>
            </a:endParaRPr>
          </a:p>
        </p:txBody>
      </p:sp>
    </p:spTree>
    <p:extLst>
      <p:ext uri="{BB962C8B-B14F-4D97-AF65-F5344CB8AC3E}">
        <p14:creationId xmlns:p14="http://schemas.microsoft.com/office/powerpoint/2010/main" val="2945729442"/>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Rectangle 2"/>
          <p:cNvSpPr txBox="1">
            <a:spLocks noChangeArrowheads="1"/>
          </p:cNvSpPr>
          <p:nvPr userDrawn="1"/>
        </p:nvSpPr>
        <p:spPr bwMode="auto">
          <a:xfrm>
            <a:off x="3954054" y="61913"/>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nchor="b"/>
          <a:lstStyle>
            <a:lvl1pPr algn="l" rtl="0" eaLnBrk="0" fontAlgn="base" hangingPunct="0">
              <a:spcBef>
                <a:spcPct val="0"/>
              </a:spcBef>
              <a:spcAft>
                <a:spcPct val="0"/>
              </a:spcAft>
              <a:defRPr sz="2800"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2pPr>
            <a:lvl3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3pPr>
            <a:lvl4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4pPr>
            <a:lvl5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5pPr>
            <a:lvl6pPr marL="4572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6pPr>
            <a:lvl7pPr marL="9144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7pPr>
            <a:lvl8pPr marL="13716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8pPr>
            <a:lvl9pPr marL="18288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9pPr>
          </a:lstStyle>
          <a:p>
            <a:pPr>
              <a:defRPr/>
            </a:pPr>
            <a:r>
              <a:rPr lang="en-US" sz="2801" smtClean="0">
                <a:sym typeface="Gill Sans" charset="0"/>
              </a:rPr>
              <a:t>Click to edit Master title style</a:t>
            </a:r>
            <a:endParaRPr lang="en-US" sz="2801" dirty="0">
              <a:sym typeface="Gill Sans" charset="0"/>
            </a:endParaRPr>
          </a:p>
        </p:txBody>
      </p:sp>
      <p:sp>
        <p:nvSpPr>
          <p:cNvPr id="2" name="Titel 1"/>
          <p:cNvSpPr>
            <a:spLocks noGrp="1"/>
          </p:cNvSpPr>
          <p:nvPr>
            <p:ph type="ctrTitle"/>
          </p:nvPr>
        </p:nvSpPr>
        <p:spPr>
          <a:xfrm>
            <a:off x="1299673" y="3030541"/>
            <a:ext cx="14740917" cy="2090737"/>
          </a:xfrm>
        </p:spPr>
        <p:txBody>
          <a:bodyPr/>
          <a:lstStyle/>
          <a:p>
            <a:r>
              <a:rPr lang="de-DE" smtClean="0"/>
              <a:t>Mastertitelformat bearbeiten</a:t>
            </a:r>
            <a:endParaRPr lang="de-DE"/>
          </a:p>
        </p:txBody>
      </p:sp>
      <p:sp>
        <p:nvSpPr>
          <p:cNvPr id="3" name="Untertitel 2"/>
          <p:cNvSpPr>
            <a:spLocks noGrp="1"/>
          </p:cNvSpPr>
          <p:nvPr>
            <p:ph type="subTitle" idx="1"/>
          </p:nvPr>
        </p:nvSpPr>
        <p:spPr>
          <a:xfrm>
            <a:off x="2601467" y="5527680"/>
            <a:ext cx="12137337" cy="2492375"/>
          </a:xfrm>
        </p:spPr>
        <p:txBody>
          <a:bodyPr/>
          <a:lstStyle>
            <a:lvl1pPr marL="0" indent="0" algn="ctr">
              <a:buNone/>
              <a:defRPr>
                <a:solidFill>
                  <a:schemeClr val="tx1">
                    <a:tint val="75000"/>
                  </a:schemeClr>
                </a:solidFill>
              </a:defRPr>
            </a:lvl1pPr>
            <a:lvl2pPr marL="457223" indent="0" algn="ctr">
              <a:buNone/>
              <a:defRPr>
                <a:solidFill>
                  <a:schemeClr val="tx1">
                    <a:tint val="75000"/>
                  </a:schemeClr>
                </a:solidFill>
              </a:defRPr>
            </a:lvl2pPr>
            <a:lvl3pPr marL="914446" indent="0" algn="ctr">
              <a:buNone/>
              <a:defRPr>
                <a:solidFill>
                  <a:schemeClr val="tx1">
                    <a:tint val="75000"/>
                  </a:schemeClr>
                </a:solidFill>
              </a:defRPr>
            </a:lvl3pPr>
            <a:lvl4pPr marL="1371668" indent="0" algn="ctr">
              <a:buNone/>
              <a:defRPr>
                <a:solidFill>
                  <a:schemeClr val="tx1">
                    <a:tint val="75000"/>
                  </a:schemeClr>
                </a:solidFill>
              </a:defRPr>
            </a:lvl4pPr>
            <a:lvl5pPr marL="1828892" indent="0" algn="ctr">
              <a:buNone/>
              <a:defRPr>
                <a:solidFill>
                  <a:schemeClr val="tx1">
                    <a:tint val="75000"/>
                  </a:schemeClr>
                </a:solidFill>
              </a:defRPr>
            </a:lvl5pPr>
            <a:lvl6pPr marL="2286114" indent="0" algn="ctr">
              <a:buNone/>
              <a:defRPr>
                <a:solidFill>
                  <a:schemeClr val="tx1">
                    <a:tint val="75000"/>
                  </a:schemeClr>
                </a:solidFill>
              </a:defRPr>
            </a:lvl6pPr>
            <a:lvl7pPr marL="2743337" indent="0" algn="ctr">
              <a:buNone/>
              <a:defRPr>
                <a:solidFill>
                  <a:schemeClr val="tx1">
                    <a:tint val="75000"/>
                  </a:schemeClr>
                </a:solidFill>
              </a:defRPr>
            </a:lvl7pPr>
            <a:lvl8pPr marL="3200560" indent="0" algn="ctr">
              <a:buNone/>
              <a:defRPr>
                <a:solidFill>
                  <a:schemeClr val="tx1">
                    <a:tint val="75000"/>
                  </a:schemeClr>
                </a:solidFill>
              </a:defRPr>
            </a:lvl8pPr>
            <a:lvl9pPr marL="3657783" indent="0" algn="ctr">
              <a:buNone/>
              <a:defRPr>
                <a:solidFill>
                  <a:schemeClr val="tx1">
                    <a:tint val="75000"/>
                  </a:schemeClr>
                </a:solidFill>
              </a:defRPr>
            </a:lvl9pPr>
          </a:lstStyle>
          <a:p>
            <a:r>
              <a:rPr lang="de-DE" smtClean="0"/>
              <a:t>Master-Untertitelformat bearbeiten</a:t>
            </a:r>
            <a:endParaRPr lang="de-DE"/>
          </a:p>
        </p:txBody>
      </p:sp>
      <p:sp>
        <p:nvSpPr>
          <p:cNvPr id="5" name="Datumsplatzhalter 3"/>
          <p:cNvSpPr>
            <a:spLocks noGrp="1"/>
          </p:cNvSpPr>
          <p:nvPr>
            <p:ph type="dt" sz="half" idx="10"/>
          </p:nvPr>
        </p:nvSpPr>
        <p:spPr>
          <a:xfrm>
            <a:off x="867863" y="9040813"/>
            <a:ext cx="4045074" cy="519112"/>
          </a:xfrm>
          <a:prstGeom prst="rect">
            <a:avLst/>
          </a:prstGeom>
        </p:spPr>
        <p:txBody>
          <a:bodyPr/>
          <a:lstStyle>
            <a:lvl1pPr>
              <a:defRPr/>
            </a:lvl1pPr>
          </a:lstStyle>
          <a:p>
            <a:pPr>
              <a:defRPr/>
            </a:pPr>
            <a:fld id="{0761AC05-74B0-4862-A94A-F2E71369815F}" type="datetimeFigureOut">
              <a:rPr lang="de-DE" altLang="de-DE"/>
              <a:pPr>
                <a:defRPr/>
              </a:pPr>
              <a:t>04.09.2024</a:t>
            </a:fld>
            <a:endParaRPr lang="de-DE" altLang="de-DE"/>
          </a:p>
        </p:txBody>
      </p:sp>
      <p:sp>
        <p:nvSpPr>
          <p:cNvPr id="6" name="Fußzeilenplatzhalter 4"/>
          <p:cNvSpPr>
            <a:spLocks noGrp="1"/>
          </p:cNvSpPr>
          <p:nvPr>
            <p:ph type="ftr" sz="quarter" idx="11"/>
          </p:nvPr>
        </p:nvSpPr>
        <p:spPr>
          <a:xfrm>
            <a:off x="5924735" y="9040813"/>
            <a:ext cx="5490801" cy="519112"/>
          </a:xfrm>
          <a:prstGeom prst="rect">
            <a:avLst/>
          </a:prstGeom>
        </p:spPr>
        <p:txBody>
          <a:bodyPr/>
          <a:lstStyle>
            <a:lvl1pPr>
              <a:defRPr/>
            </a:lvl1pPr>
          </a:lstStyle>
          <a:p>
            <a:pPr>
              <a:defRPr/>
            </a:pPr>
            <a:endParaRPr lang="de-DE"/>
          </a:p>
        </p:txBody>
      </p:sp>
    </p:spTree>
    <p:extLst>
      <p:ext uri="{BB962C8B-B14F-4D97-AF65-F5344CB8AC3E}">
        <p14:creationId xmlns:p14="http://schemas.microsoft.com/office/powerpoint/2010/main" val="4274480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6417" y="1737234"/>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669898006"/>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smtClean="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2087228306"/>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2.png"/><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hteck 4"/>
          <p:cNvSpPr>
            <a:spLocks noChangeArrowheads="1"/>
          </p:cNvSpPr>
          <p:nvPr userDrawn="1"/>
        </p:nvSpPr>
        <p:spPr bwMode="auto">
          <a:xfrm>
            <a:off x="-14815" y="0"/>
            <a:ext cx="17355081" cy="1276350"/>
          </a:xfrm>
          <a:prstGeom prst="rect">
            <a:avLst/>
          </a:prstGeom>
          <a:solidFill>
            <a:srgbClr val="1C64B7"/>
          </a:solidFill>
          <a:ln>
            <a:noFill/>
          </a:ln>
          <a:extLst>
            <a:ext uri="{91240B29-F687-4F45-9708-019B960494DF}">
              <a14:hiddenLine xmlns:a14="http://schemas.microsoft.com/office/drawing/2010/main" w="25400">
                <a:solidFill>
                  <a:srgbClr val="000000"/>
                </a:solidFill>
                <a:round/>
                <a:headEnd/>
                <a:tailEnd/>
              </a14:hiddenLine>
            </a:ext>
          </a:extLst>
        </p:spPr>
        <p:txBody>
          <a:bodyPr/>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lgn="ctr" eaLnBrk="1" hangingPunct="1">
              <a:defRPr/>
            </a:pPr>
            <a:endParaRPr lang="de-DE" altLang="de-DE" sz="2000" smtClean="0">
              <a:latin typeface="Arial" panose="020B0604020202020204" pitchFamily="34" charset="0"/>
              <a:cs typeface="Arial" panose="020B0604020202020204" pitchFamily="34" charset="0"/>
            </a:endParaRPr>
          </a:p>
        </p:txBody>
      </p:sp>
      <p:sp>
        <p:nvSpPr>
          <p:cNvPr id="2" name="Rectangle 1"/>
          <p:cNvSpPr>
            <a:spLocks noGrp="1" noChangeArrowheads="1"/>
          </p:cNvSpPr>
          <p:nvPr>
            <p:ph type="body" idx="1"/>
          </p:nvPr>
        </p:nvSpPr>
        <p:spPr bwMode="auto">
          <a:xfrm>
            <a:off x="868436" y="1877967"/>
            <a:ext cx="11777493" cy="1130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t" anchorCtr="0" compatLnSpc="1">
            <a:prstTxWarp prst="textNoShape">
              <a:avLst/>
            </a:prstTxWarp>
          </a:bodyPr>
          <a:lstStyle/>
          <a:p>
            <a:pPr lvl="0"/>
            <a:r>
              <a:rPr lang="en-US" dirty="0">
                <a:sym typeface="Gill Sans" charset="0"/>
              </a:rPr>
              <a:t>Click to edit Master text styles</a:t>
            </a:r>
          </a:p>
          <a:p>
            <a:pPr lvl="1"/>
            <a:r>
              <a:rPr lang="en-US" dirty="0">
                <a:sym typeface="Gill Sans" charset="0"/>
              </a:rPr>
              <a:t>Second level</a:t>
            </a:r>
          </a:p>
          <a:p>
            <a:pPr lvl="2"/>
            <a:r>
              <a:rPr lang="en-US" dirty="0">
                <a:sym typeface="Gill Sans" charset="0"/>
              </a:rPr>
              <a:t>Third level</a:t>
            </a:r>
          </a:p>
          <a:p>
            <a:pPr lvl="3"/>
            <a:r>
              <a:rPr lang="en-US" dirty="0">
                <a:sym typeface="Gill Sans" charset="0"/>
              </a:rPr>
              <a:t>Fourth level</a:t>
            </a:r>
          </a:p>
          <a:p>
            <a:pPr lvl="4"/>
            <a:r>
              <a:rPr lang="en-US" dirty="0">
                <a:sym typeface="Gill Sans" charset="0"/>
              </a:rPr>
              <a:t>Fifth level</a:t>
            </a:r>
          </a:p>
        </p:txBody>
      </p:sp>
      <p:sp>
        <p:nvSpPr>
          <p:cNvPr id="1027" name="Rectangle 2"/>
          <p:cNvSpPr>
            <a:spLocks noGrp="1" noChangeArrowheads="1"/>
          </p:cNvSpPr>
          <p:nvPr>
            <p:ph type="title"/>
          </p:nvPr>
        </p:nvSpPr>
        <p:spPr bwMode="auto">
          <a:xfrm>
            <a:off x="3899019" y="178594"/>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b" anchorCtr="0" compatLnSpc="1">
            <a:prstTxWarp prst="textNoShape">
              <a:avLst/>
            </a:prstTxWarp>
          </a:bodyPr>
          <a:lstStyle/>
          <a:p>
            <a:pPr lvl="0"/>
            <a:r>
              <a:rPr lang="en-US" dirty="0">
                <a:sym typeface="Gill Sans" charset="0"/>
              </a:rPr>
              <a:t>Click to edit Master title style</a:t>
            </a:r>
          </a:p>
        </p:txBody>
      </p:sp>
      <p:pic>
        <p:nvPicPr>
          <p:cNvPr id="1029" name="Bild 3" descr="Bildschirmfoto 2015-07-13 um 11.02.19.png"/>
          <p:cNvPicPr>
            <a:picLocks noChangeAspect="1"/>
          </p:cNvPicPr>
          <p:nvPr userDrawn="1"/>
        </p:nvPicPr>
        <p:blipFill>
          <a:blip r:embed="rId8">
            <a:extLst>
              <a:ext uri="{28A0092B-C50C-407E-A947-70E740481C1C}">
                <a14:useLocalDpi xmlns:a14="http://schemas.microsoft.com/office/drawing/2010/main" val="0"/>
              </a:ext>
            </a:extLst>
          </a:blip>
          <a:srcRect l="10283" r="50424"/>
          <a:stretch>
            <a:fillRect/>
          </a:stretch>
        </p:blipFill>
        <p:spPr bwMode="auto">
          <a:xfrm>
            <a:off x="-14818" y="0"/>
            <a:ext cx="3863035" cy="1276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Grafik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4306074" y="6419"/>
            <a:ext cx="2928850" cy="1269931"/>
          </a:xfrm>
          <a:prstGeom prst="rect">
            <a:avLst/>
          </a:prstGeom>
        </p:spPr>
      </p:pic>
    </p:spTree>
  </p:cSld>
  <p:clrMap bg1="lt1" tx1="dk1" bg2="lt2" tx2="dk2" accent1="accent1" accent2="accent2" accent3="accent3" accent4="accent4" accent5="accent5" accent6="accent6" hlink="hlink" folHlink="folHlink"/>
  <p:sldLayoutIdLst>
    <p:sldLayoutId id="2147483777" r:id="rId1"/>
    <p:sldLayoutId id="2147483778" r:id="rId2"/>
    <p:sldLayoutId id="2147483779" r:id="rId3"/>
    <p:sldLayoutId id="2147483783" r:id="rId4"/>
    <p:sldLayoutId id="2147483780" r:id="rId5"/>
    <p:sldLayoutId id="2147483781" r:id="rId6"/>
  </p:sldLayoutIdLst>
  <p:transition/>
  <p:timing>
    <p:tnLst>
      <p:par>
        <p:cTn id="1" dur="indefinite" restart="never" nodeType="tmRoot"/>
      </p:par>
    </p:tnLst>
  </p:timing>
  <p:txStyles>
    <p:titleStyle>
      <a:lvl1pPr algn="l" rtl="0" eaLnBrk="0" fontAlgn="base" hangingPunct="0">
        <a:spcBef>
          <a:spcPct val="0"/>
        </a:spcBef>
        <a:spcAft>
          <a:spcPct val="0"/>
        </a:spcAft>
        <a:defRPr sz="3600" b="1"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2pPr>
      <a:lvl3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3pPr>
      <a:lvl4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4pPr>
      <a:lvl5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5pPr>
      <a:lvl6pPr marL="457223"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6pPr>
      <a:lvl7pPr marL="914446"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7pPr>
      <a:lvl8pPr marL="1371668"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8pPr>
      <a:lvl9pPr marL="1828892"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9pPr>
    </p:titleStyle>
    <p:bodyStyle>
      <a:lvl1pPr marL="342917" indent="-342917" algn="l" rtl="0" eaLnBrk="0" fontAlgn="base" hangingPunct="0">
        <a:spcBef>
          <a:spcPct val="0"/>
        </a:spcBef>
        <a:spcAft>
          <a:spcPct val="0"/>
        </a:spcAft>
        <a:buClr>
          <a:srgbClr val="1C64B7"/>
        </a:buClr>
        <a:buSzPct val="90000"/>
        <a:buFont typeface="Arial" panose="020B0604020202020204" pitchFamily="34" charset="0"/>
        <a:defRPr sz="2400" kern="1200">
          <a:solidFill>
            <a:schemeClr val="tx1"/>
          </a:solidFill>
          <a:latin typeface="Arial" panose="020B0604020202020204" pitchFamily="34" charset="0"/>
          <a:ea typeface="+mn-ea"/>
          <a:cs typeface="Arial" panose="020B0604020202020204" pitchFamily="34" charset="0"/>
          <a:sym typeface="Gill Sans" pitchFamily="2" charset="0"/>
        </a:defRPr>
      </a:lvl1pPr>
      <a:lvl2pPr marL="742988" indent="-285764"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2pPr>
      <a:lvl3pPr marL="1143057"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3pPr>
      <a:lvl4pPr marL="1600280"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4pPr>
      <a:lvl5pPr marL="2057503"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5pPr>
      <a:lvl6pPr marL="2514726"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49"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172"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394"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46" rtl="0" eaLnBrk="1" latinLnBrk="0" hangingPunct="1">
        <a:defRPr sz="1800" kern="1200">
          <a:solidFill>
            <a:schemeClr val="tx1"/>
          </a:solidFill>
          <a:latin typeface="+mn-lt"/>
          <a:ea typeface="+mn-ea"/>
          <a:cs typeface="+mn-cs"/>
        </a:defRPr>
      </a:lvl1pPr>
      <a:lvl2pPr marL="457223" algn="l" defTabSz="914446" rtl="0" eaLnBrk="1" latinLnBrk="0" hangingPunct="1">
        <a:defRPr sz="1800" kern="1200">
          <a:solidFill>
            <a:schemeClr val="tx1"/>
          </a:solidFill>
          <a:latin typeface="+mn-lt"/>
          <a:ea typeface="+mn-ea"/>
          <a:cs typeface="+mn-cs"/>
        </a:defRPr>
      </a:lvl2pPr>
      <a:lvl3pPr marL="914446" algn="l" defTabSz="914446" rtl="0" eaLnBrk="1" latinLnBrk="0" hangingPunct="1">
        <a:defRPr sz="1800" kern="1200">
          <a:solidFill>
            <a:schemeClr val="tx1"/>
          </a:solidFill>
          <a:latin typeface="+mn-lt"/>
          <a:ea typeface="+mn-ea"/>
          <a:cs typeface="+mn-cs"/>
        </a:defRPr>
      </a:lvl3pPr>
      <a:lvl4pPr marL="1371668" algn="l" defTabSz="914446" rtl="0" eaLnBrk="1" latinLnBrk="0" hangingPunct="1">
        <a:defRPr sz="1800" kern="1200">
          <a:solidFill>
            <a:schemeClr val="tx1"/>
          </a:solidFill>
          <a:latin typeface="+mn-lt"/>
          <a:ea typeface="+mn-ea"/>
          <a:cs typeface="+mn-cs"/>
        </a:defRPr>
      </a:lvl4pPr>
      <a:lvl5pPr marL="1828892" algn="l" defTabSz="914446" rtl="0" eaLnBrk="1" latinLnBrk="0" hangingPunct="1">
        <a:defRPr sz="1800" kern="1200">
          <a:solidFill>
            <a:schemeClr val="tx1"/>
          </a:solidFill>
          <a:latin typeface="+mn-lt"/>
          <a:ea typeface="+mn-ea"/>
          <a:cs typeface="+mn-cs"/>
        </a:defRPr>
      </a:lvl5pPr>
      <a:lvl6pPr marL="2286114" algn="l" defTabSz="914446" rtl="0" eaLnBrk="1" latinLnBrk="0" hangingPunct="1">
        <a:defRPr sz="1800" kern="1200">
          <a:solidFill>
            <a:schemeClr val="tx1"/>
          </a:solidFill>
          <a:latin typeface="+mn-lt"/>
          <a:ea typeface="+mn-ea"/>
          <a:cs typeface="+mn-cs"/>
        </a:defRPr>
      </a:lvl6pPr>
      <a:lvl7pPr marL="2743337" algn="l" defTabSz="914446" rtl="0" eaLnBrk="1" latinLnBrk="0" hangingPunct="1">
        <a:defRPr sz="1800" kern="1200">
          <a:solidFill>
            <a:schemeClr val="tx1"/>
          </a:solidFill>
          <a:latin typeface="+mn-lt"/>
          <a:ea typeface="+mn-ea"/>
          <a:cs typeface="+mn-cs"/>
        </a:defRPr>
      </a:lvl7pPr>
      <a:lvl8pPr marL="3200560" algn="l" defTabSz="914446" rtl="0" eaLnBrk="1" latinLnBrk="0" hangingPunct="1">
        <a:defRPr sz="1800" kern="1200">
          <a:solidFill>
            <a:schemeClr val="tx1"/>
          </a:solidFill>
          <a:latin typeface="+mn-lt"/>
          <a:ea typeface="+mn-ea"/>
          <a:cs typeface="+mn-cs"/>
        </a:defRPr>
      </a:lvl8pPr>
      <a:lvl9pPr marL="3657783" algn="l" defTabSz="91444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107945" y="214313"/>
            <a:ext cx="10464800" cy="855662"/>
          </a:xfrm>
        </p:spPr>
        <p:txBody>
          <a:bodyPr/>
          <a:lstStyle/>
          <a:p>
            <a:pPr>
              <a:defRPr/>
            </a:pPr>
            <a:r>
              <a:rPr lang="de-DE" dirty="0" smtClean="0">
                <a:sym typeface="Gill Sans" charset="0"/>
              </a:rPr>
              <a:t>Team</a:t>
            </a:r>
            <a:endParaRPr lang="de-DE" dirty="0">
              <a:sym typeface="Gill Sans" charset="0"/>
            </a:endParaRPr>
          </a:p>
        </p:txBody>
      </p:sp>
      <p:sp>
        <p:nvSpPr>
          <p:cNvPr id="2" name="Inhaltsplatzhalter 1"/>
          <p:cNvSpPr>
            <a:spLocks noGrp="1"/>
          </p:cNvSpPr>
          <p:nvPr>
            <p:ph idx="1"/>
          </p:nvPr>
        </p:nvSpPr>
        <p:spPr>
          <a:xfrm>
            <a:off x="850392" y="1828800"/>
            <a:ext cx="15636240" cy="3840480"/>
          </a:xfrm>
        </p:spPr>
        <p:txBody>
          <a:bodyPr wrap="square">
            <a:noAutofit/>
          </a:bodyPr>
          <a:lstStyle/>
          <a:p>
            <a:pPr marL="514350" indent="-514350">
              <a:spcAft>
                <a:spcPts val="1400"/>
              </a:spcAft>
              <a:buSzPct val="100000"/>
              <a:buFont typeface="+mj-lt"/>
              <a:defRPr/>
              <a:buNone/>
            </a:pPr>
            <a:r>
              <a:rPr b="1" sz="2400">
                <a:solidFill>
                  <a:srgbClr val="B4541E"/>
                </a:solidFill>
              </a:rPr>
              <a:t>APC_TDC</a:t>
            </a:r>
            <a:r>
              <a:rPr b="0" sz="2400">
                <a:solidFill>
                  <a:srgbClr val="1A1A1A"/>
                </a:solidFill>
              </a:rPr>
              <a:t>  ·  Tze-Hsiang Tang  ·  Schneider Electric Taiwan Co., Ltd.</a:t>
            </a:r>
            <a:endParaRPr lang="de-DE" sz="2800" dirty="0">
              <a:sym typeface="Gill Sans" charset="0"/>
            </a:endParaRPr>
          </a:p>
          <a:p>
            <a:pPr>
              <a:spcAft>
                <a:spcPts val="1400"/>
              </a:spcAft>
              <a:buNone/>
            </a:pPr>
            <a:r>
              <a:rPr b="0" sz="2400">
                <a:solidFill>
                  <a:srgbClr val="1A1A1A"/>
                </a:solidFill>
              </a:rPr>
              <a:t>A one-person team. We entered both categories.</a:t>
            </a:r>
          </a:p>
          <a:p>
            <a:pPr>
              <a:spcAft>
                <a:spcPts val="1400"/>
              </a:spcAft>
              <a:buNone/>
            </a:pPr>
          </a:p>
          <a:p>
            <a:pPr>
              <a:spcAft>
                <a:spcPts val="1400"/>
              </a:spcAft>
              <a:buNone/>
            </a:pPr>
            <a:r>
              <a:rPr b="1" sz="2400">
                <a:solidFill>
                  <a:srgbClr val="B4541E"/>
                </a:solidFill>
              </a:rPr>
              <a:t>Category 1</a:t>
            </a:r>
            <a:r>
              <a:rPr b="0" sz="2400">
                <a:solidFill>
                  <a:srgbClr val="1A1A1A"/>
                </a:solidFill>
              </a:rPr>
              <a:t>  weakly supervised tool detection      mAP  0.4930</a:t>
            </a:r>
          </a:p>
          <a:p>
            <a:pPr>
              <a:spcAft>
                <a:spcPts val="1400"/>
              </a:spcAft>
              <a:buNone/>
            </a:pPr>
            <a:r>
              <a:rPr b="1" sz="2400">
                <a:solidFill>
                  <a:srgbClr val="B4541E"/>
                </a:solidFill>
              </a:rPr>
              <a:t>Category 2</a:t>
            </a:r>
            <a:r>
              <a:rPr b="0" sz="2400">
                <a:solidFill>
                  <a:srgbClr val="1A1A1A"/>
                </a:solidFill>
              </a:rPr>
              <a:t>  surgical video question answering     BERTScore-F1  0.6191</a:t>
            </a:r>
          </a:p>
        </p:txBody>
      </p:sp>
      <p:sp>
        <p:nvSpPr>
          <p:cNvPr id="4" name="Inhaltsplatzhalter 1"/>
          <p:cNvSpPr txBox="1">
            <a:spLocks/>
          </p:cNvSpPr>
          <p:nvPr/>
        </p:nvSpPr>
        <p:spPr bwMode="auto">
          <a:xfrm>
            <a:off x="2477294" y="8909051"/>
            <a:ext cx="10585450" cy="6651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buClr>
                <a:srgbClr val="1C64B7"/>
              </a:buClr>
              <a:buSzPct val="90000"/>
              <a:buFont typeface="Arial" pitchFamily="34" charset="0"/>
              <a:defRPr/>
              <a:buNone/>
            </a:pPr>
            <a:r>
              <a:rPr sz="1400">
                <a:solidFill>
                  <a:srgbClr val="555555"/>
                </a:solidFill>
              </a:rPr>
              <a:t>Code, weights and report:  github.com/seantangth/miccai2026-surgvu-surgical-tool-detection-vqa</a:t>
            </a:r>
          </a:p>
        </p:txBody>
      </p:sp>
    </p:spTree>
    <p:extLst>
      <p:ext uri="{BB962C8B-B14F-4D97-AF65-F5344CB8AC3E}">
        <p14:creationId xmlns:p14="http://schemas.microsoft.com/office/powerpoint/2010/main" val="2091636087"/>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smtClean="0">
                <a:sym typeface="Gill Sans" charset="0"/>
              </a:rPr>
              <a:t>Method</a:t>
            </a:r>
            <a:endParaRPr lang="de-DE" dirty="0">
              <a:sym typeface="Gill Sans" charset="0"/>
            </a:endParaRPr>
          </a:p>
        </p:txBody>
      </p:sp>
      <p:sp>
        <p:nvSpPr>
          <p:cNvPr id="4" name="Inhaltsplatzhalter 1"/>
          <p:cNvSpPr>
            <a:spLocks noGrp="1"/>
          </p:cNvSpPr>
          <p:nvPr>
            <p:ph idx="1"/>
          </p:nvPr>
        </p:nvSpPr>
        <p:spPr>
          <a:xfrm>
            <a:off x="850392" y="1737360"/>
            <a:ext cx="15636240" cy="1005840"/>
          </a:xfrm>
        </p:spPr>
        <p:txBody>
          <a:bodyPr wrap="square">
            <a:noAutofit/>
          </a:bodyPr>
          <a:lstStyle/>
          <a:p>
            <a:pPr marL="514350" indent="-514350">
              <a:spcAft>
                <a:spcPts val="600"/>
              </a:spcAft>
              <a:buSzPct val="100000"/>
              <a:buFont typeface="+mj-lt"/>
              <a:defRPr/>
              <a:buNone/>
            </a:pPr>
            <a:r>
              <a:rPr b="1" sz="2000">
                <a:solidFill>
                  <a:srgbClr val="B4541E"/>
                </a:solidFill>
              </a:rPr>
              <a:t>The labels we are given are tool presence, not boxes.</a:t>
            </a:r>
            <a:r>
              <a:rPr b="0" sz="2000">
                <a:solidFill>
                  <a:srgbClr val="1A1A1A"/>
                </a:solidFill>
              </a:rPr>
              <a:t>  We turn them into a gate on a teacher ensemble, and let the accepted frames train the next teacher.</a:t>
            </a:r>
            <a:endParaRPr lang="de-DE" sz="2800" dirty="0">
              <a:sym typeface="Gill Sans" charset="0"/>
            </a:endParaRPr>
          </a:p>
        </p:txBody>
      </p:sp>
      <p:pic>
        <p:nvPicPr>
          <p:cNvPr id="5" name="Picture 4" descr="figure1.png"/>
          <p:cNvPicPr>
            <a:picLocks noChangeAspect="1"/>
          </p:cNvPicPr>
          <p:nvPr/>
        </p:nvPicPr>
        <p:blipFill>
          <a:blip r:embed="rId2"/>
          <a:stretch>
            <a:fillRect/>
          </a:stretch>
        </p:blipFill>
        <p:spPr>
          <a:xfrm>
            <a:off x="1720691" y="2697480"/>
            <a:ext cx="13898880" cy="5922893"/>
          </a:xfrm>
          <a:prstGeom prst="rect">
            <a:avLst/>
          </a:prstGeom>
        </p:spPr>
      </p:pic>
      <p:sp>
        <p:nvSpPr>
          <p:cNvPr id="6" name="TextBox 5"/>
          <p:cNvSpPr txBox="1"/>
          <p:nvPr/>
        </p:nvSpPr>
        <p:spPr>
          <a:xfrm>
            <a:off x="1720691" y="8796528"/>
            <a:ext cx="13898880" cy="822960"/>
          </a:xfrm>
          <a:prstGeom prst="rect">
            <a:avLst/>
          </a:prstGeom>
          <a:noFill/>
        </p:spPr>
        <p:txBody>
          <a:bodyPr wrap="square">
            <a:noAutofit/>
          </a:bodyPr>
          <a:lstStyle/>
          <a:p>
            <a:pPr>
              <a:spcAft>
                <a:spcPts val="0"/>
              </a:spcAft>
              <a:buNone/>
            </a:pPr>
            <a:r>
              <a:rPr b="1" sz="1600">
                <a:solidFill>
                  <a:srgbClr val="B4541E"/>
                </a:solidFill>
              </a:rPr>
              <a:t>Accept a frame only if</a:t>
            </a:r>
            <a:r>
              <a:rPr b="0" sz="1600">
                <a:solidFill>
                  <a:srgbClr val="1A1A1A"/>
                </a:solidFill>
              </a:rPr>
              <a:t> the per-class box count equals the installed count exactly and every box has conf ≥ 0.35.   26% of frames pass; retraining the teacher on them raises that to 41%.</a:t>
            </a:r>
          </a:p>
        </p:txBody>
      </p:sp>
    </p:spTree>
    <p:extLst>
      <p:ext uri="{BB962C8B-B14F-4D97-AF65-F5344CB8AC3E}">
        <p14:creationId xmlns:p14="http://schemas.microsoft.com/office/powerpoint/2010/main" val="1027387234"/>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smtClean="0">
                <a:sym typeface="Gill Sans" charset="0"/>
              </a:rPr>
              <a:t>Key design </a:t>
            </a:r>
            <a:r>
              <a:rPr lang="de-DE" dirty="0" err="1" smtClean="0">
                <a:sym typeface="Gill Sans" charset="0"/>
              </a:rPr>
              <a:t>decisions</a:t>
            </a:r>
            <a:endParaRPr lang="de-DE" dirty="0">
              <a:sym typeface="Gill Sans" charset="0"/>
            </a:endParaRP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700"/>
              </a:spcAft>
              <a:buSzPct val="100000"/>
              <a:buFont typeface="+mj-lt"/>
              <a:defRPr/>
              <a:buNone/>
            </a:pPr>
            <a:r>
              <a:rPr b="1" sz="2000">
                <a:solidFill>
                  <a:srgbClr val="B4541E"/>
                </a:solidFill>
              </a:rPr>
              <a:t>1.  Scale beats recipe.</a:t>
            </a:r>
            <a:r>
              <a:rPr b="0" sz="2000">
                <a:solidFill>
                  <a:srgbClr val="1A1A1A"/>
                </a:solidFill>
              </a:rPr>
              <a:t>  Growing the pseudo-label source from 20 to 280 videos: +0.052. Every recipe change we tried: at most 0.006.</a:t>
            </a:r>
            <a:endParaRPr lang="de-DE" sz="2800" dirty="0">
              <a:sym typeface="Gill Sans" charset="0"/>
            </a:endParaRPr>
          </a:p>
          <a:p>
            <a:pPr>
              <a:spcAft>
                <a:spcPts val="1700"/>
              </a:spcAft>
              <a:buNone/>
            </a:pPr>
            <a:r>
              <a:rPr b="1" sz="2000">
                <a:solidFill>
                  <a:srgbClr val="B4541E"/>
                </a:solidFill>
              </a:rPr>
              <a:t>2.  Let the weak label do the filtering.</a:t>
            </a:r>
            <a:r>
              <a:rPr b="0" sz="2000">
                <a:solidFill>
                  <a:srgbClr val="1A1A1A"/>
                </a:solidFill>
              </a:rPr>
              <a:t>  A count-exact match against tools.csv is model-independent, so iterative pseudo-labelling converges instead of drifting.</a:t>
            </a:r>
          </a:p>
          <a:p>
            <a:pPr>
              <a:spcAft>
                <a:spcPts val="1700"/>
              </a:spcAft>
              <a:buNone/>
            </a:pPr>
            <a:r>
              <a:rPr b="1" sz="2000">
                <a:solidFill>
                  <a:srgbClr val="B4541E"/>
                </a:solidFill>
              </a:rPr>
              <a:t>3.  Never size-filter pseudo-labels.</a:t>
            </a:r>
            <a:r>
              <a:rPr b="0" sz="2000">
                <a:solidFill>
                  <a:srgbClr val="1A1A1A"/>
                </a:solidFill>
              </a:rPr>
              <a:t>  Clipping box areas to P2–P98 removes the near- and far-field samples that carry the scale diversity, and AP75 drops.</a:t>
            </a:r>
          </a:p>
          <a:p>
            <a:pPr>
              <a:spcAft>
                <a:spcPts val="1700"/>
              </a:spcAft>
              <a:buNone/>
            </a:pPr>
            <a:r>
              <a:rPr b="1" sz="2000">
                <a:solidFill>
                  <a:srgbClr val="B4541E"/>
                </a:solidFill>
              </a:rPr>
              <a:t>4.  Never keep a frame whose visible tool has no box.</a:t>
            </a:r>
            <a:r>
              <a:rPr b="0" sz="2000">
                <a:solidFill>
                  <a:srgbClr val="1A1A1A"/>
                </a:solidFill>
              </a:rPr>
              <a:t>  Three classes were excluded from the targets while their images stayed: 65,182 frames taught the detector that a visible prograsp is background, against 711 positive boxes. Deleting those frames: 0.000 → 0.255 detection.</a:t>
            </a:r>
          </a:p>
          <a:p>
            <a:pPr>
              <a:spcAft>
                <a:spcPts val="1700"/>
              </a:spcAft>
              <a:buNone/>
            </a:pPr>
            <a:r>
              <a:rPr b="1" sz="2000">
                <a:solidFill>
                  <a:srgbClr val="B4541E"/>
                </a:solidFill>
              </a:rPr>
              <a:t>5.  The remaining headroom is AP75, not recall.</a:t>
            </a:r>
            <a:r>
              <a:rPr b="0" sz="2000">
                <a:solidFill>
                  <a:srgbClr val="1A1A1A"/>
                </a:solidFill>
              </a:rPr>
              <a:t>  Common classes already sit at AP50 0.93. Training at 800 px: +0.0275 AP75. Fusing the 640 and 800 models: +0.0376.</a:t>
            </a:r>
          </a:p>
        </p:txBody>
      </p:sp>
    </p:spTree>
    <p:extLst>
      <p:ext uri="{BB962C8B-B14F-4D97-AF65-F5344CB8AC3E}">
        <p14:creationId xmlns:p14="http://schemas.microsoft.com/office/powerpoint/2010/main" val="1901588781"/>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smtClean="0">
                <a:sym typeface="Gill Sans" charset="0"/>
              </a:rPr>
              <a:t>What</a:t>
            </a:r>
            <a:r>
              <a:rPr lang="de-DE" dirty="0" smtClean="0">
                <a:sym typeface="Gill Sans" charset="0"/>
              </a:rPr>
              <a:t> </a:t>
            </a:r>
            <a:r>
              <a:rPr lang="de-DE" dirty="0" err="1" smtClean="0">
                <a:sym typeface="Gill Sans" charset="0"/>
              </a:rPr>
              <a:t>did</a:t>
            </a:r>
            <a:r>
              <a:rPr lang="de-DE" dirty="0" smtClean="0">
                <a:sym typeface="Gill Sans" charset="0"/>
              </a:rPr>
              <a:t> not </a:t>
            </a:r>
            <a:r>
              <a:rPr lang="de-DE" dirty="0" err="1" smtClean="0">
                <a:sym typeface="Gill Sans" charset="0"/>
              </a:rPr>
              <a:t>work</a:t>
            </a:r>
            <a:r>
              <a:rPr lang="de-DE" dirty="0" smtClean="0">
                <a:sym typeface="Gill Sans" charset="0"/>
              </a:rPr>
              <a:t>?</a:t>
            </a:r>
            <a:endParaRPr lang="de-DE" dirty="0">
              <a:sym typeface="Gill Sans" charset="0"/>
            </a:endParaRP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500"/>
              </a:spcAft>
              <a:buSzPct val="100000"/>
              <a:buFont typeface="+mj-lt"/>
              <a:defRPr/>
              <a:buNone/>
            </a:pPr>
            <a:r>
              <a:rPr b="1" sz="1900">
                <a:solidFill>
                  <a:srgbClr val="B4541E"/>
                </a:solidFill>
              </a:rPr>
              <a:t>Inference-time search.</a:t>
            </a:r>
            <a:r>
              <a:rPr b="0" sz="1900">
                <a:solidFill>
                  <a:srgbClr val="1A1A1A"/>
                </a:solidFill>
              </a:rPr>
              <a:t>  39 variants of TTA, confidence, top-k, multi-scale and NMS. Ceiling: +0.005.</a:t>
            </a:r>
            <a:endParaRPr lang="de-DE" sz="2800" dirty="0">
              <a:sym typeface="Gill Sans" charset="0"/>
            </a:endParaRPr>
          </a:p>
          <a:p>
            <a:pPr>
              <a:spcAft>
                <a:spcPts val="1500"/>
              </a:spcAft>
              <a:buNone/>
            </a:pPr>
            <a:r>
              <a:rPr b="1" sz="1900">
                <a:solidFill>
                  <a:srgbClr val="B4541E"/>
                </a:solidFill>
              </a:rPr>
              <a:t>Temporal post-processing.</a:t>
            </a:r>
            <a:r>
              <a:rPr b="0" sz="1900">
                <a:solidFill>
                  <a:srgbClr val="1A1A1A"/>
                </a:solidFill>
              </a:rPr>
              <a:t>  Ten variants of score smoothing, box smoothing and gap filling. All negative, −0.004 to −0.06.</a:t>
            </a:r>
          </a:p>
          <a:p>
            <a:pPr>
              <a:spcAft>
                <a:spcPts val="1500"/>
              </a:spcAft>
              <a:buNone/>
            </a:pPr>
            <a:r>
              <a:rPr b="1" sz="1900">
                <a:solidFill>
                  <a:srgbClr val="B4541E"/>
                </a:solidFill>
              </a:rPr>
              <a:t>Training on the official ground truth alone.</a:t>
            </a:r>
            <a:r>
              <a:rPr b="0" sz="1900">
                <a:solidFill>
                  <a:srgbClr val="1A1A1A"/>
                </a:solidFill>
              </a:rPr>
              <a:t>  0.4024 against 0.5905 for mixed training. Fine-tuning on it afterwards also hurt: needle-driver AP75 0.51 → 0.36.  Five videos is a narrower scale prior than the pseudo-labels provide.</a:t>
            </a:r>
          </a:p>
          <a:p>
            <a:pPr>
              <a:spcAft>
                <a:spcPts val="1500"/>
              </a:spcAft>
              <a:buNone/>
            </a:pPr>
            <a:r>
              <a:rPr b="1" sz="1900">
                <a:solidFill>
                  <a:srgbClr val="B4541E"/>
                </a:solidFill>
              </a:rPr>
              <a:t>Reading the robot interface with OCR to relabel.</a:t>
            </a:r>
            <a:r>
              <a:rPr b="0" sz="1900">
                <a:solidFill>
                  <a:srgbClr val="1A1A1A"/>
                </a:solidFill>
              </a:rPr>
              <a:t>  It fixed the four never-detected classes on a proxy metric, but cost −0.0127 mAP on the common classes.</a:t>
            </a:r>
          </a:p>
          <a:p>
            <a:pPr>
              <a:spcAft>
                <a:spcPts val="1500"/>
              </a:spcAft>
              <a:buNone/>
            </a:pPr>
            <a:r>
              <a:rPr b="1" sz="1900">
                <a:solidFill>
                  <a:srgbClr val="B4541E"/>
                </a:solidFill>
              </a:rPr>
              <a:t>Trusting a proxy metric.</a:t>
            </a:r>
            <a:r>
              <a:rPr b="0" sz="1900">
                <a:solidFill>
                  <a:srgbClr val="1A1A1A"/>
                </a:solidFill>
              </a:rPr>
              <a:t>  That same relabelling moved tool-presence set-F1 from 0.578 to 0.819 while moving real mAP the other way.  Two rulers, opposite directions.</a:t>
            </a:r>
          </a:p>
          <a:p>
            <a:pPr>
              <a:spcAft>
                <a:spcPts val="1500"/>
              </a:spcAft>
              <a:buNone/>
            </a:pPr>
          </a:p>
          <a:p>
            <a:pPr>
              <a:spcAft>
                <a:spcPts val="1500"/>
              </a:spcAft>
              <a:buNone/>
            </a:pPr>
            <a:r>
              <a:rPr b="1" sz="1900">
                <a:solidFill>
                  <a:srgbClr val="B4541E"/>
                </a:solidFill>
              </a:rPr>
              <a:t>And the honest caveat:</a:t>
            </a:r>
            <a:r>
              <a:rPr b="0" sz="1900">
                <a:solidFill>
                  <a:srgbClr val="1A1A1A"/>
                </a:solidFill>
              </a:rPr>
              <a:t>  our ablations hold out the student, not the teacher, so read the paired differences and not the absolute values.</a:t>
            </a:r>
          </a:p>
        </p:txBody>
      </p:sp>
    </p:spTree>
    <p:extLst>
      <p:ext uri="{BB962C8B-B14F-4D97-AF65-F5344CB8AC3E}">
        <p14:creationId xmlns:p14="http://schemas.microsoft.com/office/powerpoint/2010/main" val="2858834238"/>
      </p:ext>
    </p:extLst>
  </p:cSld>
  <p:clrMapOvr>
    <a:masterClrMapping/>
  </p:clrMapOvr>
  <p:transition/>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2_Titre et sous-titre">
  <a:themeElements>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Titre et sous-titre">
      <a:majorFont>
        <a:latin typeface="Gill Sans"/>
        <a:ea typeface="ヒラギノ角ゴ ProN W3"/>
        <a:cs typeface="ヒラギノ角ゴ ProN W3"/>
      </a:majorFont>
      <a:minorFont>
        <a:latin typeface="Gill Sans"/>
        <a:ea typeface="ヒラギノ角ゴ ProN W3"/>
        <a:cs typeface="ヒラギノ角ゴ ProN W3"/>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lnDef>
  </a:objectDefaults>
  <a:extraClrSchemeLst>
    <a:extraClrScheme>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Pages>0</Pages>
  <Words>52</Words>
  <Characters>0</Characters>
  <Application>Microsoft Office PowerPoint</Application>
  <PresentationFormat>Benutzerdefiniert</PresentationFormat>
  <Lines>0</Lines>
  <Paragraphs>9</Paragraphs>
  <Slides>4</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vt:i4>
      </vt:variant>
    </vt:vector>
  </HeadingPairs>
  <TitlesOfParts>
    <vt:vector size="11" baseType="lpstr">
      <vt:lpstr>ＭＳ Ｐゴシック</vt:lpstr>
      <vt:lpstr>ＭＳ Ｐゴシック</vt:lpstr>
      <vt:lpstr>Arial</vt:lpstr>
      <vt:lpstr>Calibri</vt:lpstr>
      <vt:lpstr>Gill Sans</vt:lpstr>
      <vt:lpstr>ヒラギノ角ゴ ProN W3</vt:lpstr>
      <vt:lpstr>2_Titre et sous-titre</vt:lpstr>
      <vt:lpstr>Team</vt:lpstr>
      <vt:lpstr>Method</vt:lpstr>
      <vt:lpstr>Key design decisions</vt:lpstr>
      <vt:lpstr>What did not 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dc:creator>
  <cp:lastModifiedBy>Speidel, Stefanie</cp:lastModifiedBy>
  <cp:revision>105</cp:revision>
  <dcterms:modified xsi:type="dcterms:W3CDTF">2024-09-04T11:49:20Z</dcterms:modified>
</cp:coreProperties>
</file>